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F5F7FA"/>
                </a:solidFill>
                <a:latin typeface="Microsoft JhengHei"/>
              </a:rPr>
              <a:t>🌊 LINE 浪況自動推播機器人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6AC6F2"/>
                </a:solidFill>
                <a:latin typeface="Microsoft JhengHei"/>
              </a:rPr>
              <a:t>結合 CWA 浮標 API × LINE Messaging × 衝浪科學的智慧推播系統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1">
                <a:solidFill>
                  <a:srgbClr val="F5F7FA"/>
                </a:solidFill>
                <a:latin typeface="Microsoft JhengHei"/>
              </a:rPr>
              <a:t>作者姓名 ／ 課程名稱 ／ 日期（請自行填寫）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182880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目錄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1. 問題背景與動機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2. 系統功能展示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3. 系統架構設計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4. 資料來源與容錯機制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5. 浪況評分邏輯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074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6. LINE 整合技術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7. 推播排程設計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8. 開發挑戰與解決方案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F5F7FA"/>
                </a:solidFill>
                <a:latin typeface="Microsoft JhengHei"/>
              </a:rPr>
              <a:t>● 9. 成果與未來規劃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1 ｜ 問題背景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衝浪者每天面對的痛點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329184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📍 台灣有 15+ 個主要衝浪浪點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🔍 資訊分散在 CWA、GoOcean、Windy 等多個網站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📱 每天要手動查詢、沒有個人化建議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⚠️ 看不懂氣象術語的衝浪者容易誤判安全性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流程：用戶 → 打開 CWA → 打開 GoOcean → 打開 Windy → 自己判斷（太繁瑣）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166360"/>
            <a:ext cx="11064240" cy="100584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1">
                <a:solidFill>
                  <a:srgbClr val="F2604C"/>
                </a:solidFill>
                <a:latin typeface="Microsoft JhengHei"/>
              </a:rPr>
              <a:t>「能不能讓機器人每天早上主動告訴我：今天能不能衝？去哪裡最好？」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1 ｜ 解決方案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打造衝浪者的私人氣象教練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傳統做法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本系統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升級效果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手動查網站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自動推播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省時、不遺漏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看數字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看星號＋燈號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一眼懂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通用資訊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依浪齡個人化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初學者不冒險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等到了才知道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長浪警戒主動通知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提前準備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2 ｜ 功能展示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機器人可以做什麼？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📢 每日 05:00 / 15:00 自動廣播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🔍 輸入地名即時查詢浪況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🏆 今日最佳浪點前三名推薦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⚠️ 大浪 / 颱風自動警戒通知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📺 一鍵查 YouTube 浪況直播（北/東/南共20支）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👤 建立個人 Surfer 檔案（浪齡/板型/常去浪點）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🌙 單點查詢自動附上今日潮汐時刻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900" b="1" i="0">
                <a:solidFill>
                  <a:srgbClr val="F5F7FA"/>
                </a:solidFill>
                <a:latin typeface="Microsoft JhengHei"/>
              </a:rPr>
              <a:t>● 💡 建議於此處插入 Demo 截圖：早報推播訊息 / 最佳浪點推薦 / 圖文選單 + Flex 卡片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3 ｜ 技術設計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系統架構總覽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393192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F5F7FA"/>
                </a:solidFill>
                <a:latin typeface="Consolas"/>
              </a:rPr>
              <a:t>┌────────────────┐     ┌───────────────────────┐     ┌────────────────┐
│    資料來源     │ ──▶ │    Render 伺服器       │ ──▶ │    使用者端     │
│                │     │                       │     │                │
│ CWA 浮標 API    │     │ broadcast.py          │     │ LINE App       │
│ Open-Meteo     │     │ webhook.py            │     │                │
│ CWA 潮汐 API    │     │ line_api.py           │     └────────────────┘
│ CWA 颱風 API    │     │ db.py                 │
└────────────────┘     └──────────┬────────────┘
                                   │
                  ┌────────────────┼────────────────┐
                  ▼                ▼                ▼
             Supabase          LINE API        GitHub Actions
             (資料庫)          (推播/回覆)       (定時排程)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6AC6F2"/>
                </a:solidFill>
                <a:latin typeface="Microsoft JhengHei"/>
              </a:rPr>
              <a:t>共 5 個核心模組、4 個外部服務、4 個 GitHub Actions 工作流程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3 ｜ 技術設計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為什麼選這些技術？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486400"/>
                <a:gridCol w="320040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技術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選擇理由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替代方案比較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Python Flask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輕量 Webhook 伺服器，Render 原生支援 gunicorn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Django（太重）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LINE API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台灣用戶覆蓋率 &gt;90%，支援 Push/Flex/圖文選單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Telegram、FB Messenger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CWA API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台灣官方浮標，即時波高/週期/風向，免費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無同等品質的替代品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Supabase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免費雲端 PostgreSQL，Render 重啟資料不消失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Firebase（較貴）／本機 SQLite（不持久）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GitHub Actions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免費 CI/CD + 定時任務，不受 Render 睡眠影響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Render 付費 Cron Job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3 ｜ 資料來源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CWA 浮標 API × Open-Meteo 備援策略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主要來源：CWA O-B0075-001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10 個浮標站（台灣北/中/東/南/離島），即時波高、週期、風向、海溫、潮位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每小時更新，但有時整批卡住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備援來源：Open-Meteo Marine API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全球免費、不需 API Key，任何 IP 都能存取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解決 CWA 有時限制特定 IP 的問題；無海溫、無潮位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資料決策流程：CWA 全部有效 → 用 CWA｜CWA 部分缺站 → CWA + Open-Meteo 補缺｜CWA 全失效 → 完全切換 Open-Meteo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⚠️ 重要設計：新鮮度檢查（&gt;3 小時視為失效）— 颱風期間 CWA 可能 48 小時未更新，若不檢查會推播錯誤的平靜假象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3 ｜ 浪況評分邏輯（一）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看懂浪況：GoOcean 安全燈號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0"/>
                <a:gridCol w="3291840"/>
              </a:tblGrid>
              <a:tr h="841248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燈號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條件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5F7FA"/>
                          </a:solidFill>
                          <a:latin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0D4F8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🟢 初學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浪高 &lt; 0.8m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安全，適合新手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🟡 中階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浪高 ≥0.8m 或（浪高≥0.5m 且週期≥9s）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有一定挑戰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🔴 進階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浪高 ≥1.8m 或（浪高≥1.0m 且週期≥12s）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需要技術</a:t>
                      </a:r>
                    </a:p>
                  </a:txBody>
                  <a:tcPr>
                    <a:solidFill>
                      <a:srgbClr val="143A63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⛔ 危險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浪高 ≥3.0m 或（浪高≥2.0m 且週期≥12s）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F5F7FA"/>
                          </a:solidFill>
                          <a:latin typeface="Microsoft JhengHei"/>
                        </a:rPr>
                        <a:t>禁止入水</a:t>
                      </a:r>
                    </a:p>
                  </a:txBody>
                  <a:tcPr>
                    <a:solidFill>
                      <a:srgbClr val="0D2A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6080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5F7FA"/>
                </a:solidFill>
                <a:latin typeface="Microsoft JhengHei"/>
              </a:rPr>
              <a:t>● 關鍵設計：用 OR 邏輯而非 AND — 同樣 1.0m 的浪，週期 12s 的能量和衝擊力遠大於週期 5s；長週期湧浪（Ground Swell）危險性不能只靠浪高判斷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3 ｜ 浪況評分邏輯（二）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衝浪品質 ≠ 浪高：週期才是關鍵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Microsoft JhengHei"/>
              </a:rPr>
              <a:t>● 品質分數公式：品質分數 = 浪高(m) × 週期(s) × 週期品質係數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Microsoft JhengHei"/>
              </a:rPr>
              <a:t>● 週期品質係數：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&lt;7s → ×0.7　短週期風浪（Wind Swell）：雜亂、打板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7–9s → ×1.0　一般混合浪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9–12s → ×1.3　長週期混合浪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≥12s → ×1.6　Ground Swell（湧浪）：乾淨有力，最佳品質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Microsoft JhengHei"/>
              </a:rPr>
              <a:t>● 實際案例對比（同樣浪高 1.0m）：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週期 6s（風浪）：1.0 × 6 × 0.7 = 4.2 分 ⭐⭐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週期 12s（湧浪）：1.0 × 12 × 1.6 = 19.2 分 ⭐⭐⭐⭐⭐ → 相差 4.6 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Microsoft JhengHei"/>
              </a:rPr>
              <a:t>● 陸風加成：當天吹陸風（離岸風）→ 分數 ×1.3（把浪梳理成乾淨立牆，大幅提升浪形品質）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3 ｜ LINE 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Webhook 為什麼要非同步？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630936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Microsoft JhengHei"/>
              </a:rPr>
              <a:t>● 問題：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查詢浪況需呼叫外部 API，可能等待 2–8 秒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LINE 要求 Webhook 必須在 1 秒內回應 HTTP 200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同步等待 → LINE 誤以為失敗 → 重送事件 → 重複推播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Microsoft JhengHei"/>
              </a:rPr>
              <a:t>● 解法：先回 200，事件處理丟背景執行緒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5F7FA"/>
                </a:solidFill>
                <a:latin typeface="Microsoft JhengHei"/>
              </a:rPr>
              <a:t>● 額外防護：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600" b="0" i="0">
                <a:solidFill>
                  <a:srgbClr val="F5F7FA"/>
                </a:solidFill>
                <a:latin typeface="Microsoft JhengHei"/>
              </a:rPr>
              <a:t>‒ reply_token 過期（Render 重啟中）時，reply_message() 失敗 → 自動改 push_message() 補送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1691640"/>
            <a:ext cx="457200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78040" y="17830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Consolas"/>
              </a:rPr>
              <a:t>LINE 發 Webhook
     │
     ▼
Flask 立即回 200 ◀ (&lt;10ms)
     │  (同時)
     ▼
背景執行緒：
查API → 建訊息
 → 推播給用戶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3 ｜ LINE 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Rich Menu：圖片 × 按鈕分開設計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一般人的誤解：「圖片上的按鈕就是按鈕」；實際上圖片和按鈕座標完全分開定義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圖片（視覺層）：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Python Pillow 直接用程式繪製，2500×843 像素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漸層色塊（逐行填色模擬漸層）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Apple Color Emoji 彩色字型渲染 emoji，文字黑色描邊避免淡色背景吃字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按鈕（行為層）：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POST 給 LINE API 的 JSON：areas[] = 每格 x/y 座標 + 動作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action.type = "message"，action.text = 觸發文字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流程：用戶點擊左下格 → LINE 自動發出觸發文字 → Webhook 收到 → 回傳 Flex Carousel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3 ｜ 推播排程設計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免費伺服器的挑戰：Render Free Tier 睡眠機制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問題：Render 免費方案 15 分鐘無請求 → 進入睡眠；冷啟動 30–60 秒 → 廣播時間到了服務還在睡 → 廣播失敗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解法：GitHub Actions 作為外部可靠定時器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broadcast.yml：每 5 秒 curl /health，等服務醒來（最多 2 分鐘）→ POST /broadcast-now 觸發廣播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5F7FA"/>
                </a:solidFill>
                <a:latin typeface="Microsoft JhengHei"/>
              </a:rPr>
              <a:t>‒ keep_alive.yml：高峰時段每 5 分鐘 ping，避免睡眠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設計取捨：保活時段只開台灣 05:00–10:00、14:00–20:00，非高峰時段放它睡 → 節省免費額度，避免月底被強制停權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4 ｜ 開發挑戰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最難排查的 Bug：Render 上的 SSL 憑證失敗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症狀：本機測試完全正常，Deploy 到 Render 後 CWA API 呼叫全部失敗（SSLError: Missing Subject Key Identifier）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排查過程：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2604C"/>
                </a:solidFill>
                <a:latin typeface="Microsoft JhengHei"/>
              </a:rPr>
              <a:t>‒ ❌ 以為是 API Key 問題 → 輪替金鑰 → 沒用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2604C"/>
                </a:solidFill>
                <a:latin typeface="Microsoft JhengHei"/>
              </a:rPr>
              <a:t>‒ ❌ 加 requests.get(verify=False) → 仍失敗（問題在更底層）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F2604C"/>
                </a:solidFill>
                <a:latin typeface="Microsoft JhengHei"/>
              </a:rPr>
              <a:t>‒ ❌ 自訂 ssl.SSLContext → 仍失敗（Python ssl 模組的限制）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700" b="0" i="0">
                <a:solidFill>
                  <a:srgbClr val="6AC6F2"/>
                </a:solidFill>
                <a:latin typeface="Microsoft JhengHei"/>
              </a:rPr>
              <a:t>‒ ✅ 改用系統 curl -sk 子行程 → 成功！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根本原因：CWA 憑證缺少 Subject Key Identifier 欄位（輕微不合規）。本機 macOS OpenSSL 不嚴格檢查，Render 容器 OpenSSL 3.2+ 直接拒絕，Python 層根本沒機會處理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F5F7FA"/>
                </a:solidFill>
                <a:latin typeface="Microsoft JhengHei"/>
              </a:rPr>
              <a:t>● 學習：除錯時要辨清問題發生在哪一層，不要從症狀猜原因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4 ｜ 開發挑戰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颱風天機器人還在推薦「適合衝浪」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Microsoft JhengHei"/>
              </a:rPr>
              <a:t>● 事件：颱風米克拉（距台 410km）期間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Microsoft JhengHei"/>
              </a:rPr>
              <a:t>● 症狀：機器人推播浪況 0.3–1.3m 🟢初學，實際海況 1.2–2.8m 🔴進階（用 Open-Meteo 驗證）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Microsoft JhengHei"/>
              </a:rPr>
              <a:t>● 根本原因：CWA 整批浮標資料卡在 45 小時前沒更新，程式沒有檢查資料時間戳記，機器人把颱風前的平靜假象當成即時資料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Microsoft JhengHei"/>
              </a:rPr>
              <a:t>● 修復方式：新增 MARINE_DATA_MAX_AGE_HOURS = 3，超過 3 小時的資料視為失效 → 觸發 Open-Meteo 備援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Microsoft JhengHei"/>
              </a:rPr>
              <a:t>● 影響範圍：長浪警戒共用同一資料源，颱風期間該發的警戒也一起修復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Microsoft JhengHei"/>
              </a:rPr>
              <a:t>● 學習：資料的「時效性」跟「存在性」同樣重要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5 ｜ 成果與未來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目前系統狀態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61188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97680" y="1691640"/>
            <a:ext cx="361188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46720" y="1691640"/>
            <a:ext cx="3611880" cy="475488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5F7FA"/>
                </a:solidFill>
                <a:latin typeface="Microsoft JhengHei"/>
              </a:rPr>
              <a:t>● 核心推播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15 大浪點，每日 05:00/15:00 廣播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個人化推播（浪齡/板型/常去浪點）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今日最佳浪點前三名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長浪警戒（自動偵測 Ground Swell）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颱風通知（1000km 範圍內）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5F7FA"/>
                </a:solidFill>
                <a:latin typeface="Microsoft JhengHei"/>
              </a:rPr>
              <a:t>● 互動查詢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浪點/地區查詢 + 今日潮汐時刻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全台 15 浪點總覽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明日浪況預報（7天模型）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YouTube 直播快速入口（20支）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337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F5F7FA"/>
                </a:solidFill>
                <a:latin typeface="Microsoft JhengHei"/>
              </a:rPr>
              <a:t>● 技術指標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Webhook 回應 &lt;10ms（非同步化後）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API 重試機制：失敗自動重試 3 次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資料備援：CWA + Open-Meteo 混合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F5F7FA"/>
                </a:solidFill>
                <a:latin typeface="Microsoft JhengHei"/>
              </a:rPr>
              <a:t>‒ 警戒 de-dup 存 DB，Render 重啟不重置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PART 5 ｜ 成果與未來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下一步要做什麼？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237744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2604C"/>
                </a:solidFill>
                <a:latin typeface="Microsoft JhengHei"/>
              </a:rPr>
              <a:t>短期（可實作）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783080"/>
            <a:ext cx="8046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5F7FA"/>
                </a:solidFill>
                <a:latin typeface="Microsoft JhengHei"/>
              </a:rPr>
              <a:t>● 🏄 find_best_spots() 加入潮汐因子 → 滿潮前後 2 小時浪形更好，加乘排序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5F7FA"/>
                </a:solidFill>
                <a:latin typeface="Microsoft JhengHei"/>
              </a:rPr>
              <a:t>● 📹 浪友影片投稿 → 傳「📹 烏石港 https://...」自動存入 surf_videos 表，廣播底部附上今日直播/影片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4612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19272"/>
            <a:ext cx="237744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AC6F2"/>
                </a:solidFill>
                <a:latin typeface="Microsoft JhengHei"/>
              </a:rPr>
              <a:t>中期（技術升級）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337560"/>
            <a:ext cx="8046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5F7FA"/>
                </a:solidFill>
                <a:latin typeface="Microsoft JhengHei"/>
              </a:rPr>
              <a:t>● 📊 Flex Message 廣播 → 目前純文字，改成圖文卡片更直覺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5F7FA"/>
                </a:solidFill>
                <a:latin typeface="Microsoft JhengHei"/>
              </a:rPr>
              <a:t>● 🌐 Windguru 資料整合 → 精準湧浪模型，補足 CWA 沒有的浪向細節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73752"/>
            <a:ext cx="237744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5F7FA"/>
                </a:solidFill>
                <a:latin typeface="Microsoft JhengHei"/>
              </a:rPr>
              <a:t>長期（商業化）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892040"/>
            <a:ext cx="8046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5F7FA"/>
                </a:solidFill>
                <a:latin typeface="Microsoft JhengHei"/>
              </a:rPr>
              <a:t>● 💰 訂閱制：免費 1 次/天，進階解鎖即時查詢無限次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F5F7FA"/>
                </a:solidFill>
                <a:latin typeface="Microsoft JhengHei"/>
              </a:rPr>
              <a:t>● 🤝 與衝浪學校合作：學員管理 + 課程浪況通知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6AC6F2"/>
                </a:solidFill>
                <a:latin typeface="Microsoft JhengHei"/>
              </a:rPr>
              <a:t>結語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5F7FA"/>
                </a:solidFill>
                <a:latin typeface="Microsoft JhengHei"/>
              </a:rPr>
              <a:t>從想法到上線的完整旅程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280160" cy="38100"/>
          </a:xfrm>
          <a:prstGeom prst="rect">
            <a:avLst/>
          </a:prstGeom>
          <a:solidFill>
            <a:srgbClr val="F26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64240" cy="3657600"/>
          </a:xfrm>
          <a:prstGeom prst="roundRect">
            <a:avLst>
              <a:gd name="adj" fmla="val 4000"/>
            </a:avLst>
          </a:prstGeom>
          <a:solidFill>
            <a:srgbClr val="143A63"/>
          </a:solidFill>
          <a:ln w="9525">
            <a:solidFill>
              <a:srgbClr val="0D4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830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F5F7FA"/>
                </a:solidFill>
                <a:latin typeface="Microsoft JhengHei"/>
              </a:rPr>
              <a:t>● 這個專案學到的核心能力：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5F7FA"/>
                </a:solidFill>
                <a:latin typeface="Microsoft JhengHei"/>
              </a:rPr>
              <a:t>‒ 系統設計 — 多服務協作（Render + GitHub Actions + Supabase + LINE + Streamlit）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5F7FA"/>
                </a:solidFill>
                <a:latin typeface="Microsoft JhengHei"/>
              </a:rPr>
              <a:t>‒ API 整合 — 處理真實外部 API 的各種異常（SSL、過期、回傳 None 字串）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5F7FA"/>
                </a:solidFill>
                <a:latin typeface="Microsoft JhengHei"/>
              </a:rPr>
              <a:t>‒ 資料工程 — 資料新鮮度、備援策略、容錯機制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5F7FA"/>
                </a:solidFill>
                <a:latin typeface="Microsoft JhengHei"/>
              </a:rPr>
              <a:t>‒ 非同步處理 — Webhook 非同步化、背景執行緒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5F7FA"/>
                </a:solidFill>
                <a:latin typeface="Microsoft JhengHei"/>
              </a:rPr>
              <a:t>‒ 衝浪科學 — 湧浪物理、GoOcean 分級、陸風判斷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1">
                <a:solidFill>
                  <a:srgbClr val="F2604C"/>
                </a:solidFill>
                <a:latin typeface="Microsoft JhengHei"/>
              </a:rPr>
              <a:t>「不只是會寫程式，而是用程式解決真實問題。」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 i="0">
                <a:solidFill>
                  <a:srgbClr val="F5F7FA"/>
                </a:solidFill>
                <a:latin typeface="Microsoft JhengHei"/>
              </a:rPr>
              <a:t>掃 QR Code 試用機器人 →　GitHub：https://github.com/BboyMelon/surf-robot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